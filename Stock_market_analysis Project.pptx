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43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4" r:id="rId8"/>
    <p:sldId id="265" r:id="rId9"/>
    <p:sldId id="266" r:id="rId10"/>
    <p:sldId id="267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E62100-6215-4B72-82D4-1160335CF98D}" v="572" dt="2025-12-29T06:19:55.801"/>
    <p1510:client id="{BCA6C914-202D-4D8E-B657-4E892E6AFF20}" v="331" dt="2025-12-29T04:46:14.4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A0979-F579-4E9B-A675-1F5ABBFF00DB}" type="datetimeFigureOut">
              <a:rPr lang="en-US" dirty="0"/>
              <a:t>12/28/2025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4901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156E-175E-4DBA-9D21-B772C320F342}" type="datetimeFigureOut">
              <a:rPr lang="en-US" dirty="0"/>
              <a:t>12/28/2025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58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95F6E-3D02-4292-95D1-C62B3126321B}" type="datetimeFigureOut">
              <a:rPr lang="en-US" dirty="0"/>
              <a:t>12/28/2025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135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5ACB-D10C-44A8-9570-124370F4CB38}" type="datetimeFigureOut">
              <a:rPr lang="en-US" dirty="0"/>
              <a:t>12/28/2025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009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4F4-0E7A-4BDE-98C6-AE68FB974645}" type="datetimeFigureOut">
              <a:rPr lang="en-US" dirty="0"/>
              <a:t>12/28/2025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884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1D8-9801-4C4B-92F3-66C9A863BD74}" type="datetimeFigureOut">
              <a:rPr lang="en-US" dirty="0"/>
              <a:t>12/28/2025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50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12/28/2025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012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891E-A7C2-465C-AD39-8EDCB0F58E3C}" type="datetimeFigureOut">
              <a:rPr lang="en-US" dirty="0"/>
              <a:t>12/28/2025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125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93E5-AFB6-485C-8E3C-32F92A07875F}" type="datetimeFigureOut">
              <a:rPr lang="en-US" dirty="0"/>
              <a:t>12/28/2025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2737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6D0F-5A12-4D0A-80B0-1A6122B61E7B}" type="datetimeFigureOut">
              <a:rPr lang="en-US" dirty="0"/>
              <a:t>12/28/2025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762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C84-89CA-44AB-B0BE-5C91BAF75478}" type="datetimeFigureOut">
              <a:rPr lang="en-US" dirty="0"/>
              <a:t>12/28/2025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54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3A332BE1-279E-4118-9FE3-7952B079A510}" type="datetimeFigureOut">
              <a:rPr lang="en-US" dirty="0"/>
              <a:t>12/28/2025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290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4" r:id="rId1"/>
    <p:sldLayoutId id="2147484045" r:id="rId2"/>
    <p:sldLayoutId id="2147484046" r:id="rId3"/>
    <p:sldLayoutId id="2147484047" r:id="rId4"/>
    <p:sldLayoutId id="2147484048" r:id="rId5"/>
    <p:sldLayoutId id="2147484049" r:id="rId6"/>
    <p:sldLayoutId id="2147484050" r:id="rId7"/>
    <p:sldLayoutId id="2147484051" r:id="rId8"/>
    <p:sldLayoutId id="2147484052" r:id="rId9"/>
    <p:sldLayoutId id="2147484053" r:id="rId10"/>
    <p:sldLayoutId id="2147484054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72+ Thousand Trading Indicators Royalty-Free Images, Stock Photos &amp;  Pictures | Shutterstock">
            <a:extLst>
              <a:ext uri="{FF2B5EF4-FFF2-40B4-BE49-F238E27FC236}">
                <a16:creationId xmlns:a16="http://schemas.microsoft.com/office/drawing/2014/main" id="{D84C81BB-6AA6-EF0D-5ABB-2ABAEA37C0C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7152" r="-75" b="7515"/>
          <a:stretch>
            <a:fillRect/>
          </a:stretch>
        </p:blipFill>
        <p:spPr>
          <a:xfrm>
            <a:off x="1524" y="688"/>
            <a:ext cx="12188840" cy="6860286"/>
          </a:xfrm>
          <a:prstGeom prst="rect">
            <a:avLst/>
          </a:prstGeom>
          <a:solidFill>
            <a:srgbClr val="000000">
              <a:shade val="95000"/>
            </a:srgbClr>
          </a:solidFill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6541" y="551633"/>
            <a:ext cx="9756258" cy="229989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dirty="0">
                <a:solidFill>
                  <a:srgbClr val="FFFFFF"/>
                </a:solidFill>
                <a:latin typeface="Angsana New"/>
                <a:cs typeface="Angsana New"/>
              </a:rPr>
              <a:t>Stock Market Analysis using Live Data</a:t>
            </a:r>
            <a:r>
              <a:rPr lang="en-US" sz="6600" dirty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2" y="3429000"/>
            <a:ext cx="9954076" cy="25146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 algn="just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FFFFFF"/>
                </a:solidFill>
                <a:latin typeface="Aptos"/>
              </a:rPr>
              <a:t>Name: </a:t>
            </a:r>
            <a:r>
              <a:rPr lang="en-US">
                <a:solidFill>
                  <a:srgbClr val="FFFFFF"/>
                </a:solidFill>
                <a:latin typeface="Aptos"/>
              </a:rPr>
              <a:t>Vadla</a:t>
            </a:r>
            <a:r>
              <a:rPr lang="en-US" sz="1800">
                <a:solidFill>
                  <a:srgbClr val="FFFFFF"/>
                </a:solidFill>
                <a:latin typeface="Aptos"/>
              </a:rPr>
              <a:t> Rajashekar Chary</a:t>
            </a:r>
            <a:endParaRPr lang="en-US">
              <a:latin typeface="Aptos"/>
            </a:endParaRPr>
          </a:p>
          <a:p>
            <a:pPr marL="285750" indent="-228600" algn="just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FFFFFF"/>
                </a:solidFill>
                <a:latin typeface="Aptos"/>
              </a:rPr>
              <a:t>Domain:</a:t>
            </a:r>
            <a:r>
              <a:rPr lang="en-US" sz="1800" dirty="0">
                <a:solidFill>
                  <a:srgbClr val="FFFFFF"/>
                </a:solidFill>
                <a:latin typeface="Aptos"/>
              </a:rPr>
              <a:t> Data Analyst                     </a:t>
            </a:r>
          </a:p>
          <a:p>
            <a:pPr marL="285750" indent="-228600" algn="just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FFFFFF"/>
                </a:solidFill>
                <a:latin typeface="Aptos"/>
              </a:rPr>
              <a:t>Tools:</a:t>
            </a:r>
            <a:r>
              <a:rPr lang="en-US">
                <a:solidFill>
                  <a:srgbClr val="FFFFFF"/>
                </a:solidFill>
                <a:latin typeface="Aptos"/>
              </a:rPr>
              <a:t> </a:t>
            </a:r>
            <a:r>
              <a:rPr lang="en-US" sz="1800">
                <a:solidFill>
                  <a:srgbClr val="FFFFFF"/>
                </a:solidFill>
                <a:latin typeface="Aptos"/>
              </a:rPr>
              <a:t>Python, ML, SQL, Excel, Yahoo Finance </a:t>
            </a:r>
            <a:r>
              <a:rPr lang="en-US">
                <a:solidFill>
                  <a:srgbClr val="FFFFFF"/>
                </a:solidFill>
                <a:latin typeface="Aptos"/>
              </a:rPr>
              <a:t>API</a:t>
            </a:r>
            <a:endParaRPr lang="en-US" sz="1800">
              <a:solidFill>
                <a:srgbClr val="FFFFFF"/>
              </a:solidFill>
              <a:latin typeface="Aptos"/>
            </a:endParaRPr>
          </a:p>
          <a:p>
            <a:pPr indent="-228600" algn="just">
              <a:buFont typeface="Arial" panose="020B0604020202020204" pitchFamily="34" charset="0"/>
              <a:buChar char="•"/>
            </a:pPr>
            <a:endParaRPr lang="en-US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6688E73-49B9-4052-A836-D248C825D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B6AEE0C-07FE-4154-BC7C-2F20530BC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72+ Thousand Trading Indicators Royalty-Free Images, Stock Photos &amp;  Pictures | Shutterstock">
            <a:extLst>
              <a:ext uri="{FF2B5EF4-FFF2-40B4-BE49-F238E27FC236}">
                <a16:creationId xmlns:a16="http://schemas.microsoft.com/office/drawing/2014/main" id="{7E43AEE0-6283-990E-AE69-471BA433913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7264" b="7990"/>
          <a:stretch>
            <a:fillRect/>
          </a:stretch>
        </p:blipFill>
        <p:spPr>
          <a:xfrm>
            <a:off x="-1" y="10"/>
            <a:ext cx="12192001" cy="68541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E91052-4F0D-ED1A-4EC8-8A5418A3B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548" y="722442"/>
            <a:ext cx="5035914" cy="1192694"/>
          </a:xfrm>
        </p:spPr>
        <p:txBody>
          <a:bodyPr>
            <a:normAutofit/>
          </a:bodyPr>
          <a:lstStyle/>
          <a:p>
            <a:r>
              <a:rPr lang="en-US" sz="6600" b="0" dirty="0">
                <a:solidFill>
                  <a:srgbClr val="FFFFFF"/>
                </a:solidFill>
                <a:latin typeface="Angsana New"/>
                <a:ea typeface="+mj-lt"/>
                <a:cs typeface="+mj-lt"/>
              </a:rPr>
              <a:t>Content:</a:t>
            </a:r>
            <a:endParaRPr lang="en-US" sz="6600" dirty="0">
              <a:solidFill>
                <a:srgbClr val="FFFFFF"/>
              </a:solidFill>
              <a:latin typeface="Angsana New"/>
              <a:cs typeface="Angsana New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87973-02A0-B5BA-B4EA-AC8315758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014" y="1502803"/>
            <a:ext cx="9243846" cy="462628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ptos"/>
                <a:ea typeface="+mn-lt"/>
                <a:cs typeface="+mn-lt"/>
              </a:rPr>
              <a:t>Analysis of stock market data for Apple, Microsoft, Netflix, Google</a:t>
            </a:r>
            <a:endParaRPr lang="en-US" sz="3200" dirty="0">
              <a:solidFill>
                <a:srgbClr val="FFFFFF"/>
              </a:solidFill>
              <a:latin typeface="Aptos"/>
            </a:endParaRPr>
          </a:p>
          <a:p>
            <a:r>
              <a:rPr lang="en-US" sz="3200" dirty="0">
                <a:solidFill>
                  <a:srgbClr val="FFFFFF"/>
                </a:solidFill>
                <a:latin typeface="Aptos"/>
                <a:ea typeface="+mn-lt"/>
                <a:cs typeface="+mn-lt"/>
              </a:rPr>
              <a:t>Used live stock data from Yahoo Finance API</a:t>
            </a:r>
            <a:endParaRPr lang="en-US" sz="3200" dirty="0">
              <a:solidFill>
                <a:srgbClr val="FFFFFF"/>
              </a:solidFill>
              <a:latin typeface="Aptos"/>
            </a:endParaRPr>
          </a:p>
          <a:p>
            <a:r>
              <a:rPr lang="en-US" sz="3200" dirty="0">
                <a:solidFill>
                  <a:srgbClr val="FFFFFF"/>
                </a:solidFill>
                <a:latin typeface="Aptos"/>
                <a:ea typeface="+mn-lt"/>
                <a:cs typeface="+mn-lt"/>
              </a:rPr>
              <a:t>Focus on trends, volatility, correlation, and prediction</a:t>
            </a:r>
            <a:endParaRPr lang="en-US" sz="3200" dirty="0">
              <a:solidFill>
                <a:srgbClr val="FFFFFF"/>
              </a:solidFill>
              <a:latin typeface="Aptos"/>
            </a:endParaRPr>
          </a:p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A1613-FD82-C84E-C2EF-8AA1383529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93249E8-FFF4-4A72-9EE4-3E51F9F77ECC}" type="datetime1">
              <a:rPr lang="en-US" sz="12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12/28/2025</a:t>
            </a:fld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AB145-ACE8-8B1B-F415-AFE60B559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</a:rPr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8E77C-E76A-2756-4CA6-30BB143F7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z="12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 sz="1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9064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6688E73-49B9-4052-A836-D248C825D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6AEE0C-07FE-4154-BC7C-2F20530BC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72+ Thousand Trading Indicators Royalty-Free Images, Stock Photos &amp;  Pictures | Shutterstock">
            <a:extLst>
              <a:ext uri="{FF2B5EF4-FFF2-40B4-BE49-F238E27FC236}">
                <a16:creationId xmlns:a16="http://schemas.microsoft.com/office/drawing/2014/main" id="{131AE7DC-3801-DD92-6BCD-859B48B85F4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7264" b="7627"/>
          <a:stretch>
            <a:fillRect/>
          </a:stretch>
        </p:blipFill>
        <p:spPr>
          <a:xfrm>
            <a:off x="-1" y="10"/>
            <a:ext cx="12192001" cy="68633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84AECB-02DD-D069-F787-FC8AD3429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86707"/>
            <a:ext cx="5155263" cy="706116"/>
          </a:xfrm>
        </p:spPr>
        <p:txBody>
          <a:bodyPr>
            <a:noAutofit/>
          </a:bodyPr>
          <a:lstStyle/>
          <a:p>
            <a:r>
              <a:rPr lang="en-US" sz="6600" b="0" dirty="0">
                <a:solidFill>
                  <a:srgbClr val="FFFFFF"/>
                </a:solidFill>
                <a:latin typeface="Angsana New"/>
                <a:ea typeface="+mj-lt"/>
                <a:cs typeface="+mj-lt"/>
              </a:rPr>
              <a:t>Objective</a:t>
            </a:r>
            <a:endParaRPr lang="en-US" sz="6600">
              <a:solidFill>
                <a:srgbClr val="FFFFFF"/>
              </a:solidFill>
              <a:latin typeface="Angsana New"/>
              <a:cs typeface="Angsana New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313B1-9769-C615-90F2-BF73476C4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015" y="1713960"/>
            <a:ext cx="10510784" cy="449775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ptos"/>
                <a:ea typeface="+mn-lt"/>
                <a:cs typeface="+mn-lt"/>
              </a:rPr>
              <a:t>Analyze historical stock prices</a:t>
            </a:r>
            <a:endParaRPr lang="en-US" sz="3200" dirty="0">
              <a:solidFill>
                <a:srgbClr val="FFFFFF"/>
              </a:solidFill>
              <a:latin typeface="Aptos"/>
            </a:endParaRPr>
          </a:p>
          <a:p>
            <a:r>
              <a:rPr lang="en-US" sz="3200" dirty="0">
                <a:solidFill>
                  <a:srgbClr val="FFFFFF"/>
                </a:solidFill>
                <a:latin typeface="Aptos"/>
                <a:ea typeface="+mn-lt"/>
                <a:cs typeface="+mn-lt"/>
              </a:rPr>
              <a:t>Identify price trends using moving averages</a:t>
            </a:r>
            <a:endParaRPr lang="en-US" sz="3200" dirty="0">
              <a:solidFill>
                <a:srgbClr val="FFFFFF"/>
              </a:solidFill>
              <a:latin typeface="Aptos"/>
            </a:endParaRPr>
          </a:p>
          <a:p>
            <a:r>
              <a:rPr lang="en-US" sz="3200" dirty="0">
                <a:solidFill>
                  <a:srgbClr val="FFFFFF"/>
                </a:solidFill>
                <a:latin typeface="Aptos"/>
                <a:ea typeface="+mn-lt"/>
                <a:cs typeface="+mn-lt"/>
              </a:rPr>
              <a:t>Measure stock volatility</a:t>
            </a:r>
            <a:endParaRPr lang="en-US" sz="3200" dirty="0">
              <a:solidFill>
                <a:srgbClr val="FFFFFF"/>
              </a:solidFill>
              <a:latin typeface="Aptos"/>
            </a:endParaRPr>
          </a:p>
          <a:p>
            <a:r>
              <a:rPr lang="en-US" sz="3200" dirty="0">
                <a:solidFill>
                  <a:srgbClr val="FFFFFF"/>
                </a:solidFill>
                <a:latin typeface="Aptos"/>
                <a:ea typeface="+mn-lt"/>
                <a:cs typeface="+mn-lt"/>
              </a:rPr>
              <a:t>Analyze correlation between companies</a:t>
            </a:r>
            <a:endParaRPr lang="en-US" sz="3200" dirty="0">
              <a:solidFill>
                <a:srgbClr val="FFFFFF"/>
              </a:solidFill>
              <a:latin typeface="Aptos"/>
            </a:endParaRPr>
          </a:p>
          <a:p>
            <a:r>
              <a:rPr lang="en-US" sz="3200" dirty="0">
                <a:solidFill>
                  <a:srgbClr val="FFFFFF"/>
                </a:solidFill>
                <a:latin typeface="Aptos"/>
                <a:ea typeface="+mn-lt"/>
                <a:cs typeface="+mn-lt"/>
              </a:rPr>
              <a:t>Predict stock prices using Machine Learning</a:t>
            </a:r>
            <a:endParaRPr lang="en-US" sz="3200">
              <a:solidFill>
                <a:srgbClr val="FFFFFF"/>
              </a:solidFill>
              <a:latin typeface="Aptos"/>
            </a:endParaRPr>
          </a:p>
          <a:p>
            <a:endParaRPr lang="en-US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7805B-630F-C6F5-DB25-9F436AD3D7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68E11FA-16D0-44AF-BBF4-C66C92CFD0EF}" type="datetime1">
              <a:rPr lang="en-US" sz="12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12/28/2025</a:t>
            </a:fld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A8583-489B-2DF8-E1AD-93809075A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</a:rPr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CD05A-93B7-A45A-B340-B5DABF8AD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z="12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 sz="1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6361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F90786E-B72D-4C32-BDCE-A170B0078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46F2E7-848F-4A6C-A098-4764FDEA7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72+ Thousand Trading Indicators Royalty-Free Images, Stock Photos &amp;  Pictures | Shutterstock">
            <a:extLst>
              <a:ext uri="{FF2B5EF4-FFF2-40B4-BE49-F238E27FC236}">
                <a16:creationId xmlns:a16="http://schemas.microsoft.com/office/drawing/2014/main" id="{A36F63BD-D615-40BB-954D-6572E85E6BB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7264" b="7990"/>
          <a:stretch>
            <a:fillRect/>
          </a:stretch>
        </p:blipFill>
        <p:spPr>
          <a:xfrm>
            <a:off x="-1" y="10"/>
            <a:ext cx="12192001" cy="68541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3026F6-59DC-B903-47F1-F78B4F14A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25955"/>
            <a:ext cx="5155261" cy="1620792"/>
          </a:xfrm>
        </p:spPr>
        <p:txBody>
          <a:bodyPr anchor="t">
            <a:normAutofit/>
          </a:bodyPr>
          <a:lstStyle/>
          <a:p>
            <a:r>
              <a:rPr lang="en-US" sz="6600" b="0" dirty="0">
                <a:solidFill>
                  <a:srgbClr val="FFFFFF"/>
                </a:solidFill>
                <a:latin typeface="Angsana New"/>
                <a:ea typeface="+mj-lt"/>
                <a:cs typeface="+mj-lt"/>
              </a:rPr>
              <a:t>Dataset Description</a:t>
            </a:r>
            <a:endParaRPr lang="en-US" sz="6600" dirty="0">
              <a:solidFill>
                <a:srgbClr val="FFFFFF"/>
              </a:solidFill>
              <a:latin typeface="Angsana New"/>
              <a:cs typeface="Angsana New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9FB38-EB73-F4E7-F0EC-9D070502B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253" y="2038795"/>
            <a:ext cx="10440594" cy="370481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ptos"/>
                <a:ea typeface="+mn-lt"/>
                <a:cs typeface="+mn-lt"/>
              </a:rPr>
              <a:t>Source: Yahoo Finance API (</a:t>
            </a:r>
            <a:r>
              <a:rPr lang="en-US" sz="3200" err="1">
                <a:solidFill>
                  <a:srgbClr val="FFFFFF"/>
                </a:solidFill>
                <a:latin typeface="Aptos"/>
              </a:rPr>
              <a:t>yfinance</a:t>
            </a:r>
            <a:r>
              <a:rPr lang="en-US" sz="3200" dirty="0">
                <a:solidFill>
                  <a:srgbClr val="FFFFFF"/>
                </a:solidFill>
                <a:latin typeface="Aptos"/>
                <a:ea typeface="+mn-lt"/>
                <a:cs typeface="+mn-lt"/>
              </a:rPr>
              <a:t>)</a:t>
            </a:r>
            <a:endParaRPr lang="en-US" sz="3200" dirty="0">
              <a:solidFill>
                <a:srgbClr val="FFFFFF"/>
              </a:solidFill>
              <a:latin typeface="Aptos"/>
            </a:endParaRPr>
          </a:p>
          <a:p>
            <a:r>
              <a:rPr lang="en-US" sz="3200" dirty="0">
                <a:solidFill>
                  <a:srgbClr val="FFFFFF"/>
                </a:solidFill>
                <a:latin typeface="Aptos"/>
                <a:ea typeface="+mn-lt"/>
                <a:cs typeface="+mn-lt"/>
              </a:rPr>
              <a:t>Type: Live stock market data</a:t>
            </a:r>
            <a:endParaRPr lang="en-US" sz="3200" dirty="0">
              <a:solidFill>
                <a:srgbClr val="FFFFFF"/>
              </a:solidFill>
              <a:latin typeface="Aptos"/>
            </a:endParaRPr>
          </a:p>
          <a:p>
            <a:r>
              <a:rPr lang="en-US" sz="3200" dirty="0">
                <a:solidFill>
                  <a:srgbClr val="FFFFFF"/>
                </a:solidFill>
                <a:latin typeface="Aptos"/>
                <a:ea typeface="+mn-lt"/>
                <a:cs typeface="+mn-lt"/>
              </a:rPr>
              <a:t>Period: Last 3 months</a:t>
            </a:r>
            <a:endParaRPr lang="en-US" sz="3200" dirty="0">
              <a:solidFill>
                <a:srgbClr val="FFFFFF"/>
              </a:solidFill>
              <a:latin typeface="Aptos"/>
            </a:endParaRPr>
          </a:p>
          <a:p>
            <a:r>
              <a:rPr lang="en-US" sz="3200" dirty="0">
                <a:solidFill>
                  <a:srgbClr val="FFFFFF"/>
                </a:solidFill>
                <a:latin typeface="Aptos"/>
                <a:ea typeface="+mn-lt"/>
                <a:cs typeface="+mn-lt"/>
              </a:rPr>
              <a:t>Frequency: Daily prices</a:t>
            </a:r>
            <a:endParaRPr lang="en-US" sz="3200" dirty="0">
              <a:solidFill>
                <a:srgbClr val="FFFFFF"/>
              </a:solidFill>
              <a:latin typeface="Aptos"/>
            </a:endParaRPr>
          </a:p>
          <a:p>
            <a:r>
              <a:rPr lang="en-US" sz="3200" dirty="0">
                <a:solidFill>
                  <a:srgbClr val="FFFFFF"/>
                </a:solidFill>
                <a:latin typeface="Aptos"/>
                <a:ea typeface="+mn-lt"/>
                <a:cs typeface="+mn-lt"/>
              </a:rPr>
              <a:t>Companies: AAPL, MSFT, NFLX, GOOG</a:t>
            </a:r>
            <a:endParaRPr lang="en-US" sz="3200" dirty="0">
              <a:solidFill>
                <a:srgbClr val="FFFFFF"/>
              </a:solidFill>
              <a:latin typeface="Aptos"/>
            </a:endParaRPr>
          </a:p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A1036-BAE5-567D-C23B-A0D667695C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195853F-78C4-46FB-B31B-B52F15C6DEEF}" type="datetime1">
              <a:rPr lang="en-US" sz="12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12/28/2025</a:t>
            </a:fld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D3A5B-5191-8D49-A926-837750166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</a:rPr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3AA85-6B0A-C041-1B7C-A444E4560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z="12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 sz="1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4234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F90786E-B72D-4C32-BDCE-A170B0078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46F2E7-848F-4A6C-A098-4764FDEA7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72+ Thousand Trading Indicators Royalty-Free Images, Stock Photos &amp;  Pictures | Shutterstock">
            <a:extLst>
              <a:ext uri="{FF2B5EF4-FFF2-40B4-BE49-F238E27FC236}">
                <a16:creationId xmlns:a16="http://schemas.microsoft.com/office/drawing/2014/main" id="{CBA22492-DEFE-E5AB-3B12-24913227E56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7264" b="7869"/>
          <a:stretch>
            <a:fillRect/>
          </a:stretch>
        </p:blipFill>
        <p:spPr>
          <a:xfrm>
            <a:off x="-1" y="10"/>
            <a:ext cx="12192001" cy="68541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29B661-2B46-7DC4-B599-EB1E187BD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07594"/>
            <a:ext cx="5155261" cy="895515"/>
          </a:xfrm>
        </p:spPr>
        <p:txBody>
          <a:bodyPr anchor="t">
            <a:normAutofit fontScale="90000"/>
          </a:bodyPr>
          <a:lstStyle/>
          <a:p>
            <a:r>
              <a:rPr lang="en-US" sz="6600" b="0" dirty="0">
                <a:solidFill>
                  <a:srgbClr val="FFFFFF"/>
                </a:solidFill>
                <a:latin typeface="Angsana New"/>
                <a:ea typeface="+mj-lt"/>
                <a:cs typeface="+mj-lt"/>
              </a:rPr>
              <a:t>Tools &amp; Technologies</a:t>
            </a:r>
            <a:endParaRPr lang="en-US" sz="6600" dirty="0">
              <a:solidFill>
                <a:srgbClr val="FFFFFF"/>
              </a:solidFill>
              <a:latin typeface="Angsana New"/>
              <a:cs typeface="Angsana New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AD818-57FC-8EB2-3892-7988903D4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625" y="1717469"/>
            <a:ext cx="10523222" cy="402614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ptos"/>
                <a:ea typeface="+mn-lt"/>
                <a:cs typeface="+mn-lt"/>
              </a:rPr>
              <a:t>Python</a:t>
            </a:r>
            <a:endParaRPr lang="en-US" sz="3200">
              <a:solidFill>
                <a:srgbClr val="FFFFFF"/>
              </a:solidFill>
              <a:latin typeface="Aptos"/>
            </a:endParaRPr>
          </a:p>
          <a:p>
            <a:r>
              <a:rPr lang="en-US" sz="3200" dirty="0">
                <a:solidFill>
                  <a:srgbClr val="FFFFFF"/>
                </a:solidFill>
                <a:latin typeface="Aptos"/>
                <a:ea typeface="+mn-lt"/>
                <a:cs typeface="+mn-lt"/>
              </a:rPr>
              <a:t>Pandas, NumPy</a:t>
            </a:r>
            <a:endParaRPr lang="en-US" sz="3200">
              <a:solidFill>
                <a:srgbClr val="FFFFFF"/>
              </a:solidFill>
              <a:latin typeface="Aptos"/>
            </a:endParaRPr>
          </a:p>
          <a:p>
            <a:r>
              <a:rPr lang="en-US" sz="3200" dirty="0">
                <a:solidFill>
                  <a:srgbClr val="FFFFFF"/>
                </a:solidFill>
                <a:latin typeface="Aptos"/>
                <a:ea typeface="+mn-lt"/>
                <a:cs typeface="+mn-lt"/>
              </a:rPr>
              <a:t>Matplotlib, Seaborn</a:t>
            </a:r>
            <a:endParaRPr lang="en-US" sz="3200">
              <a:solidFill>
                <a:srgbClr val="FFFFFF"/>
              </a:solidFill>
              <a:latin typeface="Aptos"/>
            </a:endParaRPr>
          </a:p>
          <a:p>
            <a:r>
              <a:rPr lang="en-US" sz="3200" dirty="0">
                <a:solidFill>
                  <a:srgbClr val="FFFFFF"/>
                </a:solidFill>
                <a:latin typeface="Aptos"/>
                <a:ea typeface="+mn-lt"/>
                <a:cs typeface="+mn-lt"/>
              </a:rPr>
              <a:t>Scikit-learn</a:t>
            </a:r>
            <a:endParaRPr lang="en-US" sz="3200">
              <a:solidFill>
                <a:srgbClr val="FFFFFF"/>
              </a:solidFill>
              <a:latin typeface="Aptos"/>
            </a:endParaRPr>
          </a:p>
          <a:p>
            <a:r>
              <a:rPr lang="en-US" sz="3200" dirty="0">
                <a:solidFill>
                  <a:srgbClr val="FFFFFF"/>
                </a:solidFill>
                <a:latin typeface="Aptos"/>
                <a:ea typeface="+mn-lt"/>
                <a:cs typeface="+mn-lt"/>
              </a:rPr>
              <a:t>Yahoo Finance API</a:t>
            </a:r>
            <a:endParaRPr lang="en-US" sz="3200">
              <a:solidFill>
                <a:srgbClr val="FFFFFF"/>
              </a:solidFill>
              <a:latin typeface="Aptos"/>
            </a:endParaRPr>
          </a:p>
          <a:p>
            <a:r>
              <a:rPr lang="en-US" sz="3200" dirty="0">
                <a:solidFill>
                  <a:srgbClr val="FFFFFF"/>
                </a:solidFill>
                <a:latin typeface="Aptos"/>
                <a:ea typeface="+mn-lt"/>
                <a:cs typeface="+mn-lt"/>
              </a:rPr>
              <a:t>Google Colab</a:t>
            </a:r>
            <a:endParaRPr lang="en-US" sz="3200">
              <a:solidFill>
                <a:srgbClr val="FFFFFF"/>
              </a:solidFill>
              <a:latin typeface="Aptos"/>
            </a:endParaRPr>
          </a:p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C952D-F3C3-27C7-8AE9-83F04B9F07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69B68B7-2057-439F-AE88-3EB22300DE66}" type="datetime1">
              <a:rPr lang="en-US" sz="12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12/28/2025</a:t>
            </a:fld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68738-DEEF-C16A-9B40-3AC2E865D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</a:rPr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1496F-2F83-D550-3A7F-0267EA68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z="12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 sz="1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4772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F90786E-B72D-4C32-BDCE-A170B0078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46F2E7-848F-4A6C-A098-4764FDEA7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 descr="72+ Thousand Trading Indicators Royalty-Free Images, Stock Photos &amp;  Pictures | Shutterstock">
            <a:extLst>
              <a:ext uri="{FF2B5EF4-FFF2-40B4-BE49-F238E27FC236}">
                <a16:creationId xmlns:a16="http://schemas.microsoft.com/office/drawing/2014/main" id="{A3CBA22B-6EC7-1338-DE01-F19DBE89816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7264" b="7990"/>
          <a:stretch>
            <a:fillRect/>
          </a:stretch>
        </p:blipFill>
        <p:spPr>
          <a:xfrm>
            <a:off x="-1" y="10"/>
            <a:ext cx="12192001" cy="68541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8C0200-EF42-D1CA-985C-FB26272B1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77089"/>
            <a:ext cx="9644634" cy="2107369"/>
          </a:xfrm>
        </p:spPr>
        <p:txBody>
          <a:bodyPr anchor="t">
            <a:noAutofit/>
          </a:bodyPr>
          <a:lstStyle/>
          <a:p>
            <a:r>
              <a:rPr lang="en-US" sz="6600" b="0" dirty="0">
                <a:solidFill>
                  <a:srgbClr val="FFFFFF"/>
                </a:solidFill>
                <a:latin typeface="Angsana New"/>
                <a:ea typeface="+mj-lt"/>
                <a:cs typeface="+mj-lt"/>
              </a:rPr>
              <a:t>Exploratory Data Analysis (EDA)</a:t>
            </a:r>
            <a:endParaRPr lang="en-US" sz="6600">
              <a:solidFill>
                <a:srgbClr val="FFFFFF"/>
              </a:solidFill>
              <a:latin typeface="Angsana New"/>
              <a:cs typeface="Angsana New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76518-7AA5-6355-D249-A08D35ED0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806" y="1350240"/>
            <a:ext cx="10514041" cy="499929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latin typeface="Aptos"/>
                <a:ea typeface="+mn-lt"/>
                <a:cs typeface="+mn-lt"/>
              </a:rPr>
              <a:t>Closing price distribution</a:t>
            </a:r>
          </a:p>
          <a:p>
            <a:endParaRPr lang="en-US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975CC-3CF4-6A1F-FA25-32FEE869B1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E60361B-B6B4-4828-AF83-AF2264BBEBB1}" type="datetime1">
              <a:rPr lang="en-US" sz="12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12/28/2025</a:t>
            </a:fld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55CA0-B5C7-8854-D1A4-10131B12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</a:rPr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09FF7-2F2B-C96F-59D4-EBE491654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z="12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 sz="1200">
              <a:solidFill>
                <a:srgbClr val="FFFFFF"/>
              </a:solidFill>
            </a:endParaRPr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A0F8E75-28FB-B9EC-661C-BBFE83AD8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952" y="1851636"/>
            <a:ext cx="8675782" cy="450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340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41EF8A-844B-FF87-DFF7-32B293EF1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D499843-43AC-4661-4563-67FBDADBF9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618465-78A5-2422-27B6-25C3DDF3C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 descr="72+ Thousand Trading Indicators Royalty-Free Images, Stock Photos &amp;  Pictures | Shutterstock">
            <a:extLst>
              <a:ext uri="{FF2B5EF4-FFF2-40B4-BE49-F238E27FC236}">
                <a16:creationId xmlns:a16="http://schemas.microsoft.com/office/drawing/2014/main" id="{6A1A367C-4CA4-E67E-C03B-3722B835D62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7264" b="7990"/>
          <a:stretch>
            <a:fillRect/>
          </a:stretch>
        </p:blipFill>
        <p:spPr>
          <a:xfrm>
            <a:off x="-1" y="10"/>
            <a:ext cx="12192001" cy="68541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0E8768-E037-2EF0-FFDA-BFDC879EB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22004"/>
            <a:ext cx="9644634" cy="2162454"/>
          </a:xfrm>
        </p:spPr>
        <p:txBody>
          <a:bodyPr anchor="t">
            <a:noAutofit/>
          </a:bodyPr>
          <a:lstStyle/>
          <a:p>
            <a:r>
              <a:rPr lang="en-US" sz="6600" b="0" dirty="0">
                <a:solidFill>
                  <a:srgbClr val="FFFFFF"/>
                </a:solidFill>
                <a:latin typeface="Angsana New"/>
                <a:ea typeface="+mj-lt"/>
                <a:cs typeface="+mj-lt"/>
              </a:rPr>
              <a:t>Exploratory Data Analysis (EDA)</a:t>
            </a:r>
            <a:endParaRPr lang="en-US" sz="6600">
              <a:solidFill>
                <a:srgbClr val="FFFFFF"/>
              </a:solidFill>
              <a:latin typeface="Angsana New"/>
              <a:cs typeface="Angsana New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DF9F0-6ADC-DB5E-5127-663CB604F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806" y="1322698"/>
            <a:ext cx="10514041" cy="50268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Aptos"/>
                <a:ea typeface="+mn-lt"/>
                <a:cs typeface="+mn-lt"/>
              </a:rPr>
              <a:t>Volume comparison</a:t>
            </a:r>
            <a:endParaRPr lang="en-US">
              <a:solidFill>
                <a:schemeClr val="bg1"/>
              </a:solidFill>
              <a:latin typeface="Aptos"/>
            </a:endParaRPr>
          </a:p>
          <a:p>
            <a:endParaRPr lang="en-US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778D4-1252-B326-CA6B-94AC7E3454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E60361B-B6B4-4828-AF83-AF2264BBEBB1}" type="datetime1">
              <a:rPr lang="en-US" sz="12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12/28/2025</a:t>
            </a:fld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9A86BF-9CC1-CA3E-FBA8-CFF7AF1DD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</a:rPr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16694-5B40-D428-A64B-B2C6903EF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z="12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 sz="1200">
              <a:solidFill>
                <a:srgbClr val="FFFFFF"/>
              </a:solidFill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52CDE1E-9320-DC36-6C58-122B3E4F6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494" y="1821489"/>
            <a:ext cx="8639061" cy="451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707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B391A8-AE76-F170-26C3-8DA03586E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F1C76FD-08FB-AD94-9339-B40255255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A1D3BE1-5796-41B2-54D5-9745EA1111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 descr="72+ Thousand Trading Indicators Royalty-Free Images, Stock Photos &amp;  Pictures | Shutterstock">
            <a:extLst>
              <a:ext uri="{FF2B5EF4-FFF2-40B4-BE49-F238E27FC236}">
                <a16:creationId xmlns:a16="http://schemas.microsoft.com/office/drawing/2014/main" id="{8C878D06-0363-D76B-64C8-1BD3791B24C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7264" b="7990"/>
          <a:stretch>
            <a:fillRect/>
          </a:stretch>
        </p:blipFill>
        <p:spPr>
          <a:xfrm>
            <a:off x="-1" y="10"/>
            <a:ext cx="12192001" cy="68541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321154-6A3F-14C1-F87C-A50408D0C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22004"/>
            <a:ext cx="9644634" cy="2162454"/>
          </a:xfrm>
        </p:spPr>
        <p:txBody>
          <a:bodyPr anchor="t">
            <a:noAutofit/>
          </a:bodyPr>
          <a:lstStyle/>
          <a:p>
            <a:r>
              <a:rPr lang="en-US" sz="6600" b="0" dirty="0">
                <a:solidFill>
                  <a:srgbClr val="FFFFFF"/>
                </a:solidFill>
                <a:latin typeface="Angsana New"/>
                <a:ea typeface="+mj-lt"/>
                <a:cs typeface="+mj-lt"/>
              </a:rPr>
              <a:t>Exploratory Data Analysis (EDA)</a:t>
            </a:r>
            <a:endParaRPr lang="en-US" sz="6600">
              <a:solidFill>
                <a:srgbClr val="FFFFFF"/>
              </a:solidFill>
              <a:latin typeface="Angsana New"/>
              <a:cs typeface="Angsana New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975ED-5219-4647-FBB2-ED46D6C01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805" y="1304337"/>
            <a:ext cx="10431415" cy="504520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Aptos"/>
                <a:cs typeface="Angsana New"/>
              </a:rPr>
              <a:t>Moving Average(Trend Analysis)</a:t>
            </a:r>
          </a:p>
          <a:p>
            <a:endParaRPr lang="en-US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59D5E-6433-4547-569E-124954C0DF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E60361B-B6B4-4828-AF83-AF2264BBEBB1}" type="datetime1">
              <a:rPr lang="en-US" sz="12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12/28/2025</a:t>
            </a:fld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B325E-DD95-D256-3000-3E6C7331F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</a:rPr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80686-E7EF-40C4-1E82-E05F26A7F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z="12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 sz="1200">
              <a:solidFill>
                <a:srgbClr val="FFFFFF"/>
              </a:solidFill>
            </a:endParaRP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130516E-9C33-8D3B-1963-FA09450D2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615" y="1796362"/>
            <a:ext cx="9722385" cy="475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768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16071C-62BC-5959-F4C5-6536C0B46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6D74A60-1508-4797-3803-C2D57F037F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DB4A760-EFDC-68EC-0A96-7C7F88750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 descr="72+ Thousand Trading Indicators Royalty-Free Images, Stock Photos &amp;  Pictures | Shutterstock">
            <a:extLst>
              <a:ext uri="{FF2B5EF4-FFF2-40B4-BE49-F238E27FC236}">
                <a16:creationId xmlns:a16="http://schemas.microsoft.com/office/drawing/2014/main" id="{8C017C71-2A0E-B6BA-C492-4B892E94404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7264" b="7990"/>
          <a:stretch>
            <a:fillRect/>
          </a:stretch>
        </p:blipFill>
        <p:spPr>
          <a:xfrm>
            <a:off x="-1" y="10"/>
            <a:ext cx="12192001" cy="68541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577BA68-89A8-A822-F56E-F1AAE7EDF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22004"/>
            <a:ext cx="9644634" cy="2162454"/>
          </a:xfrm>
        </p:spPr>
        <p:txBody>
          <a:bodyPr anchor="t">
            <a:noAutofit/>
          </a:bodyPr>
          <a:lstStyle/>
          <a:p>
            <a:r>
              <a:rPr lang="en-US" sz="6600" b="0" dirty="0">
                <a:solidFill>
                  <a:srgbClr val="FFFFFF"/>
                </a:solidFill>
                <a:latin typeface="Angsana New"/>
                <a:ea typeface="+mj-lt"/>
                <a:cs typeface="+mj-lt"/>
              </a:rPr>
              <a:t>Exploratory Data Analysis (EDA)</a:t>
            </a:r>
            <a:endParaRPr lang="en-US" sz="6600">
              <a:solidFill>
                <a:srgbClr val="FFFFFF"/>
              </a:solidFill>
              <a:latin typeface="Angsana New"/>
              <a:cs typeface="Angsana New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03A6D-0EDA-32D0-29F7-77655BD4B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805" y="1304337"/>
            <a:ext cx="10431415" cy="504520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Aptos"/>
                <a:cs typeface="Angsana New"/>
              </a:rPr>
              <a:t>Volatility Analysis</a:t>
            </a:r>
          </a:p>
          <a:p>
            <a:endParaRPr lang="en-US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917B7-62E2-2A41-D86E-103428AAFF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E60361B-B6B4-4828-AF83-AF2264BBEBB1}" type="datetime1">
              <a:rPr lang="en-US" sz="12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12/28/2025</a:t>
            </a:fld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C3DFB-4070-0904-CB0A-D1D5369FE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</a:rPr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6CFCD-4A93-B34A-3147-FE7B84D49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z="12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 sz="1200">
              <a:solidFill>
                <a:srgbClr val="FFFFFF"/>
              </a:solidFill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A154A48-5542-6F2F-DAD4-8AD3E6505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482" y="1995515"/>
            <a:ext cx="11356555" cy="403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819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390D7C-855A-4BE8-5FBB-4D60850DD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F0EE9B7-0BD6-D90C-EBD8-93D476946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87DDFD-8288-480A-677A-7FB90B697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 descr="72+ Thousand Trading Indicators Royalty-Free Images, Stock Photos &amp;  Pictures | Shutterstock">
            <a:extLst>
              <a:ext uri="{FF2B5EF4-FFF2-40B4-BE49-F238E27FC236}">
                <a16:creationId xmlns:a16="http://schemas.microsoft.com/office/drawing/2014/main" id="{94426868-74EC-181E-3880-20FAD993ACD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7264" b="7990"/>
          <a:stretch>
            <a:fillRect/>
          </a:stretch>
        </p:blipFill>
        <p:spPr>
          <a:xfrm>
            <a:off x="-1" y="10"/>
            <a:ext cx="12192001" cy="68541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4BBB42-7685-28AA-04C6-E2CD40B70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22004"/>
            <a:ext cx="9644634" cy="2162454"/>
          </a:xfrm>
        </p:spPr>
        <p:txBody>
          <a:bodyPr anchor="t">
            <a:noAutofit/>
          </a:bodyPr>
          <a:lstStyle/>
          <a:p>
            <a:r>
              <a:rPr lang="en-US" sz="6600" b="0" dirty="0">
                <a:solidFill>
                  <a:srgbClr val="FFFFFF"/>
                </a:solidFill>
                <a:latin typeface="Angsana New"/>
                <a:ea typeface="+mj-lt"/>
                <a:cs typeface="+mj-lt"/>
              </a:rPr>
              <a:t>Exploratory Data Analysis (EDA)</a:t>
            </a:r>
            <a:endParaRPr lang="en-US" sz="6600">
              <a:solidFill>
                <a:srgbClr val="FFFFFF"/>
              </a:solidFill>
              <a:latin typeface="Angsana New"/>
              <a:cs typeface="Angsana New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F6CCD-5989-2FF5-8291-DA573FC82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624" y="1304337"/>
            <a:ext cx="10440596" cy="504520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Aptos"/>
                <a:cs typeface="Angsana New"/>
              </a:rPr>
              <a:t>Correlation Analysis </a:t>
            </a:r>
          </a:p>
          <a:p>
            <a:endParaRPr lang="en-US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034B0-F0DA-2E6D-4BC5-1E54871025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E60361B-B6B4-4828-AF83-AF2264BBEBB1}" type="datetime1">
              <a:rPr lang="en-US" sz="12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12/28/2025</a:t>
            </a:fld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53CD6-F2A0-8E21-4759-A077E247A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</a:rPr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80D3E-B82C-F7C8-CE63-18C0257AA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z="12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 sz="1200">
              <a:solidFill>
                <a:srgbClr val="FFFFFF"/>
              </a:solidFill>
            </a:endParaRP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8201737-BC9E-D878-03EA-4F8CC0E49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976" y="1713736"/>
            <a:ext cx="9731566" cy="4835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460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A38591-79A4-9611-A160-C30BBE096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CD08324-4296-6754-F8DD-A1D090EB0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70EDBC-C223-0166-D220-FDB3DD595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72+ Thousand Trading Indicators Royalty-Free Images, Stock Photos &amp;  Pictures | Shutterstock">
            <a:extLst>
              <a:ext uri="{FF2B5EF4-FFF2-40B4-BE49-F238E27FC236}">
                <a16:creationId xmlns:a16="http://schemas.microsoft.com/office/drawing/2014/main" id="{00BC9A05-BA39-8C80-0818-775556BEF5A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7264" b="7990"/>
          <a:stretch>
            <a:fillRect/>
          </a:stretch>
        </p:blipFill>
        <p:spPr>
          <a:xfrm>
            <a:off x="-1" y="10"/>
            <a:ext cx="12192001" cy="68541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05DEC5-B4C4-38D5-E35E-735896B3E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25955"/>
            <a:ext cx="5155261" cy="1620792"/>
          </a:xfrm>
        </p:spPr>
        <p:txBody>
          <a:bodyPr anchor="t">
            <a:normAutofit fontScale="90000"/>
          </a:bodyPr>
          <a:lstStyle/>
          <a:p>
            <a:r>
              <a:rPr lang="en-US" sz="6600" b="0">
                <a:solidFill>
                  <a:srgbClr val="FFFFFF"/>
                </a:solidFill>
                <a:latin typeface="Angsana New"/>
                <a:ea typeface="+mj-lt"/>
                <a:cs typeface="+mj-lt"/>
              </a:rPr>
              <a:t>Key Insights</a:t>
            </a:r>
            <a:br>
              <a:rPr lang="en-US" sz="6600" b="0" dirty="0">
                <a:latin typeface="Angsana New"/>
                <a:ea typeface="+mj-lt"/>
                <a:cs typeface="+mj-lt"/>
              </a:rPr>
            </a:br>
            <a:endParaRPr lang="en-US" sz="6600" b="0" dirty="0">
              <a:solidFill>
                <a:srgbClr val="FFFFFF"/>
              </a:solidFill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7DC65-0BBB-B604-1172-89594B88B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253" y="2038795"/>
            <a:ext cx="10440594" cy="370481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ptos"/>
                <a:ea typeface="+mn-lt"/>
                <a:cs typeface="+mn-lt"/>
              </a:rPr>
              <a:t>Apple &amp; Microsoft are more stable</a:t>
            </a:r>
            <a:endParaRPr lang="en-US" sz="3200" dirty="0">
              <a:solidFill>
                <a:srgbClr val="FFFFFF"/>
              </a:solidFill>
              <a:latin typeface="Aptos"/>
            </a:endParaRPr>
          </a:p>
          <a:p>
            <a:r>
              <a:rPr lang="en-US" sz="3200" dirty="0">
                <a:solidFill>
                  <a:srgbClr val="FFFFFF"/>
                </a:solidFill>
                <a:latin typeface="Aptos"/>
                <a:ea typeface="+mn-lt"/>
                <a:cs typeface="+mn-lt"/>
              </a:rPr>
              <a:t>Netflix shows higher volatility</a:t>
            </a:r>
            <a:endParaRPr lang="en-US" sz="3200">
              <a:latin typeface="Aptos"/>
            </a:endParaRPr>
          </a:p>
          <a:p>
            <a:r>
              <a:rPr lang="en-US" sz="3200" dirty="0">
                <a:solidFill>
                  <a:srgbClr val="FFFFFF"/>
                </a:solidFill>
                <a:latin typeface="Aptos"/>
                <a:ea typeface="+mn-lt"/>
                <a:cs typeface="+mn-lt"/>
              </a:rPr>
              <a:t>Tech stocks are positively correlated</a:t>
            </a:r>
            <a:endParaRPr lang="en-US" sz="3200">
              <a:latin typeface="Aptos"/>
            </a:endParaRPr>
          </a:p>
          <a:p>
            <a:r>
              <a:rPr lang="en-US" sz="3200" dirty="0">
                <a:solidFill>
                  <a:srgbClr val="FFFFFF"/>
                </a:solidFill>
                <a:latin typeface="Aptos"/>
                <a:ea typeface="+mn-lt"/>
                <a:cs typeface="+mn-lt"/>
              </a:rPr>
              <a:t>Random Forest provides better prediction accuracy</a:t>
            </a:r>
            <a:endParaRPr lang="en-US" sz="3200">
              <a:latin typeface="Aptos"/>
            </a:endParaRPr>
          </a:p>
          <a:p>
            <a:endParaRPr lang="en-US" sz="3200" dirty="0">
              <a:solidFill>
                <a:srgbClr val="FFFFFF"/>
              </a:solidFill>
              <a:latin typeface="Aptos"/>
            </a:endParaRPr>
          </a:p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6730C-C0AE-4669-43C2-A6CF4397FD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195853F-78C4-46FB-B31B-B52F15C6DEEF}" type="datetime1">
              <a:rPr lang="en-US" sz="12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12/28/2025</a:t>
            </a:fld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4EFBB-E1EC-3C0D-818D-84073ED8D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</a:rPr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43105-019F-C668-4369-D86E7B982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z="12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 sz="1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2252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895EE2-84B3-BFED-AFFB-69C04D0AF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58243F6-42BD-B69A-437F-454D31398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F03293-1D24-4496-1222-007879A21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72+ Thousand Trading Indicators Royalty-Free Images, Stock Photos &amp;  Pictures | Shutterstock">
            <a:extLst>
              <a:ext uri="{FF2B5EF4-FFF2-40B4-BE49-F238E27FC236}">
                <a16:creationId xmlns:a16="http://schemas.microsoft.com/office/drawing/2014/main" id="{64AC4096-EA92-25CC-73ED-E113BFDCCE5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7264" b="7990"/>
          <a:stretch>
            <a:fillRect/>
          </a:stretch>
        </p:blipFill>
        <p:spPr>
          <a:xfrm>
            <a:off x="-1" y="10"/>
            <a:ext cx="12192001" cy="68541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68FE6A-26AC-2C60-D485-961856970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25955"/>
            <a:ext cx="5155261" cy="1620792"/>
          </a:xfrm>
        </p:spPr>
        <p:txBody>
          <a:bodyPr anchor="t">
            <a:normAutofit/>
          </a:bodyPr>
          <a:lstStyle/>
          <a:p>
            <a:r>
              <a:rPr lang="en-US" sz="6600" b="0" dirty="0">
                <a:solidFill>
                  <a:srgbClr val="FFFFFF"/>
                </a:solidFill>
                <a:latin typeface="Angsana New"/>
              </a:rPr>
              <a:t>Final 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927A2-94D5-1F61-9452-B8C05EBDD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253" y="2038795"/>
            <a:ext cx="10440594" cy="370481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3200">
                <a:solidFill>
                  <a:srgbClr val="FFFFFF"/>
                </a:solidFill>
                <a:latin typeface="Arial"/>
                <a:ea typeface="+mn-lt"/>
                <a:cs typeface="Arial"/>
              </a:rPr>
              <a:t>•</a:t>
            </a:r>
            <a:r>
              <a:rPr lang="en-US" sz="3200" dirty="0">
                <a:solidFill>
                  <a:schemeClr val="bg1"/>
                </a:solidFill>
                <a:latin typeface="Arial"/>
                <a:ea typeface="Calibri"/>
                <a:cs typeface="Arial"/>
              </a:rPr>
              <a:t> </a:t>
            </a:r>
            <a:r>
              <a:rPr lang="en-US" sz="3200">
                <a:solidFill>
                  <a:schemeClr val="bg1"/>
                </a:solidFill>
                <a:latin typeface="Aptos"/>
                <a:ea typeface="Calibri"/>
                <a:cs typeface="Calibri"/>
              </a:rPr>
              <a:t>Successfully analyzed live stock market data</a:t>
            </a:r>
            <a:endParaRPr lang="en-US">
              <a:solidFill>
                <a:schemeClr val="bg1"/>
              </a:solidFill>
              <a:latin typeface="Aptos"/>
            </a:endParaRPr>
          </a:p>
          <a:p>
            <a:pPr marL="0" indent="0">
              <a:buNone/>
            </a:pPr>
            <a:r>
              <a:rPr lang="en-US" sz="2800">
                <a:solidFill>
                  <a:schemeClr val="bg1"/>
                </a:solidFill>
                <a:latin typeface="Aptos"/>
                <a:ea typeface="+mn-lt"/>
                <a:cs typeface="Arial"/>
              </a:rPr>
              <a:t>   –</a:t>
            </a:r>
            <a:r>
              <a:rPr lang="en-US" sz="2800" dirty="0">
                <a:solidFill>
                  <a:schemeClr val="bg1"/>
                </a:solidFill>
                <a:latin typeface="Aptos"/>
                <a:ea typeface="Calibri"/>
                <a:cs typeface="Calibri"/>
              </a:rPr>
              <a:t>Applied data analysis and machine learning techniques</a:t>
            </a:r>
            <a:endParaRPr lang="en-US">
              <a:solidFill>
                <a:schemeClr val="bg1"/>
              </a:solidFill>
              <a:latin typeface="Aptos"/>
            </a:endParaRPr>
          </a:p>
          <a:p>
            <a:pPr marL="0" indent="0">
              <a:buNone/>
            </a:pPr>
            <a:r>
              <a:rPr lang="en-US" sz="2800">
                <a:solidFill>
                  <a:schemeClr val="bg1"/>
                </a:solidFill>
                <a:latin typeface="Aptos"/>
                <a:ea typeface="+mn-lt"/>
                <a:cs typeface="Arial"/>
              </a:rPr>
              <a:t>   –</a:t>
            </a:r>
            <a:r>
              <a:rPr lang="en-US" sz="2800" dirty="0">
                <a:solidFill>
                  <a:schemeClr val="bg1"/>
                </a:solidFill>
                <a:latin typeface="Aptos"/>
                <a:ea typeface="Calibri"/>
                <a:cs typeface="Calibri"/>
              </a:rPr>
              <a:t>Demonstrated real-world financial data handling skills</a:t>
            </a:r>
            <a:endParaRPr lang="en-US" dirty="0">
              <a:solidFill>
                <a:schemeClr val="bg1"/>
              </a:solidFill>
              <a:latin typeface="Aptos"/>
            </a:endParaRPr>
          </a:p>
          <a:p>
            <a:endParaRPr lang="en-US" sz="3200" dirty="0">
              <a:solidFill>
                <a:srgbClr val="FFFFFF"/>
              </a:solidFill>
              <a:latin typeface="Aptos"/>
              <a:ea typeface="+mn-lt"/>
              <a:cs typeface="+mn-lt"/>
            </a:endParaRPr>
          </a:p>
          <a:p>
            <a:endParaRPr lang="en-US" sz="3200" dirty="0">
              <a:solidFill>
                <a:srgbClr val="FFFFFF"/>
              </a:solidFill>
              <a:latin typeface="Aptos"/>
            </a:endParaRPr>
          </a:p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B00BD-6181-57F1-CF9F-B2B3B6F217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195853F-78C4-46FB-B31B-B52F15C6DEEF}" type="datetime1">
              <a:rPr lang="en-US" sz="12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12/28/2025</a:t>
            </a:fld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FF9A07-9941-2156-147F-8C026DB06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</a:rPr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57DEE-2288-DF4A-63A1-B5CBC4B47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z="12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 sz="1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160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6E1B38-4887-F1D5-240E-F4DC831D0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F507FEE-D373-BA77-FA2B-9C69B17288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BF8B3A-17F9-AC95-C005-007B90E3F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72+ Thousand Trading Indicators Royalty-Free Images, Stock Photos &amp;  Pictures | Shutterstock">
            <a:extLst>
              <a:ext uri="{FF2B5EF4-FFF2-40B4-BE49-F238E27FC236}">
                <a16:creationId xmlns:a16="http://schemas.microsoft.com/office/drawing/2014/main" id="{E6C2273A-CDDC-2FFE-8F4E-E8F22C3B768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7264" b="7990"/>
          <a:stretch>
            <a:fillRect/>
          </a:stretch>
        </p:blipFill>
        <p:spPr>
          <a:xfrm>
            <a:off x="-1" y="10"/>
            <a:ext cx="12192001" cy="68541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AF5B50-5EF5-E310-2F37-3F56EBA3B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25955"/>
            <a:ext cx="5155261" cy="1620792"/>
          </a:xfrm>
        </p:spPr>
        <p:txBody>
          <a:bodyPr anchor="t">
            <a:normAutofit fontScale="90000"/>
          </a:bodyPr>
          <a:lstStyle/>
          <a:p>
            <a:r>
              <a:rPr lang="en-US" sz="6600" b="0">
                <a:solidFill>
                  <a:schemeClr val="bg1"/>
                </a:solidFill>
                <a:latin typeface="Angsana New"/>
                <a:ea typeface="+mj-lt"/>
                <a:cs typeface="+mj-lt"/>
              </a:rPr>
              <a:t>Future Scope</a:t>
            </a:r>
            <a:br>
              <a:rPr lang="en-US" sz="6600" b="0" dirty="0">
                <a:latin typeface="Angsana New"/>
                <a:ea typeface="+mj-lt"/>
                <a:cs typeface="+mj-lt"/>
              </a:rPr>
            </a:br>
            <a:endParaRPr lang="en-US" sz="6600" b="0" dirty="0">
              <a:solidFill>
                <a:srgbClr val="FFFFFF"/>
              </a:solidFill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D32DC-329E-7D5B-94A4-6191F7BE6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253" y="2038795"/>
            <a:ext cx="10440594" cy="370481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3200">
                <a:solidFill>
                  <a:srgbClr val="FFFFFF"/>
                </a:solidFill>
                <a:latin typeface="Aptos"/>
                <a:ea typeface="+mn-lt"/>
                <a:cs typeface="+mn-lt"/>
              </a:rPr>
              <a:t>Add LSTM deep learning model</a:t>
            </a:r>
          </a:p>
          <a:p>
            <a:r>
              <a:rPr lang="en-US" sz="3200">
                <a:solidFill>
                  <a:srgbClr val="FFFFFF"/>
                </a:solidFill>
                <a:latin typeface="Aptos"/>
                <a:ea typeface="+mn-lt"/>
                <a:cs typeface="+mn-lt"/>
              </a:rPr>
              <a:t>Predict price direction (Up/Down)</a:t>
            </a:r>
            <a:endParaRPr lang="en-US">
              <a:latin typeface="Aptos"/>
            </a:endParaRPr>
          </a:p>
          <a:p>
            <a:r>
              <a:rPr lang="en-US" sz="3200">
                <a:solidFill>
                  <a:srgbClr val="FFFFFF"/>
                </a:solidFill>
                <a:latin typeface="Aptos"/>
                <a:ea typeface="+mn-lt"/>
                <a:cs typeface="+mn-lt"/>
              </a:rPr>
              <a:t>Deploy using Streamlit or Flask</a:t>
            </a:r>
            <a:endParaRPr lang="en-US">
              <a:latin typeface="Aptos"/>
            </a:endParaRPr>
          </a:p>
          <a:p>
            <a:r>
              <a:rPr lang="en-US" sz="3200">
                <a:solidFill>
                  <a:srgbClr val="FFFFFF"/>
                </a:solidFill>
                <a:latin typeface="Aptos"/>
                <a:ea typeface="+mn-lt"/>
                <a:cs typeface="+mn-lt"/>
              </a:rPr>
              <a:t>Automate daily stock data fetching</a:t>
            </a:r>
            <a:endParaRPr lang="en-US">
              <a:latin typeface="Aptos"/>
            </a:endParaRPr>
          </a:p>
          <a:p>
            <a:endParaRPr lang="en-US" sz="3200" dirty="0">
              <a:solidFill>
                <a:srgbClr val="FFFFFF"/>
              </a:solidFill>
              <a:latin typeface="Aptos"/>
            </a:endParaRPr>
          </a:p>
          <a:p>
            <a:endParaRPr lang="en-US" sz="3200" dirty="0">
              <a:solidFill>
                <a:srgbClr val="FFFFFF"/>
              </a:solidFill>
              <a:latin typeface="Aptos"/>
            </a:endParaRPr>
          </a:p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45DD7-4C5F-F460-623B-3ECBE5287D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195853F-78C4-46FB-B31B-B52F15C6DEEF}" type="datetime1">
              <a:rPr lang="en-US" sz="12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12/28/2025</a:t>
            </a:fld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82A89-6721-916D-3E7B-8902A2772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</a:rPr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497A1-F474-48C3-31DE-97F836794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z="12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13</a:t>
            </a:fld>
            <a:endParaRPr lang="en-US" sz="1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1768609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AACC6CF0-9F86-48CC-9C4E-CA578EE0A0A0}" vid="{3BDE51FE-56D6-4100-AFB5-5B4AEDCE2EF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VanillaVTI</vt:lpstr>
      <vt:lpstr>Stock Market Analysis using Live Data </vt:lpstr>
      <vt:lpstr>Content:</vt:lpstr>
      <vt:lpstr>Objective</vt:lpstr>
      <vt:lpstr>Dataset Description</vt:lpstr>
      <vt:lpstr>Tools &amp; Technologies</vt:lpstr>
      <vt:lpstr>Exploratory Data Analysis (EDA)</vt:lpstr>
      <vt:lpstr>Exploratory Data Analysis (EDA)</vt:lpstr>
      <vt:lpstr>Exploratory Data Analysis (EDA)</vt:lpstr>
      <vt:lpstr>Exploratory Data Analysis (EDA)</vt:lpstr>
      <vt:lpstr>Exploratory Data Analysis (EDA)</vt:lpstr>
      <vt:lpstr>Key Insights </vt:lpstr>
      <vt:lpstr>Final Conclusion</vt:lpstr>
      <vt:lpstr>Future Scope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508</cp:revision>
  <dcterms:created xsi:type="dcterms:W3CDTF">2025-12-29T04:04:39Z</dcterms:created>
  <dcterms:modified xsi:type="dcterms:W3CDTF">2025-12-29T06:24:03Z</dcterms:modified>
</cp:coreProperties>
</file>